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981" r:id="rId2"/>
    <p:sldId id="982" r:id="rId3"/>
    <p:sldId id="983" r:id="rId4"/>
    <p:sldId id="984" r:id="rId5"/>
    <p:sldId id="25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7C899-8048-48CE-975B-8125D6905B0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75621-C6FA-48B1-A849-533C9A89D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955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61792-9E7B-4C6F-AE12-0010476464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24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6A78-26EB-FD42-A5F6-C946198F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D1A30-DB5A-541C-25EF-66FE31548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73A6E-7CAC-4BAA-200E-3F3C995ED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81F0A-2BB0-F48B-F965-3E3CBD432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61792-9E7B-4C6F-AE12-0010476464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973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63C2-8736-18A2-ED38-333917203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CF47C-E7F1-5ABE-E8F7-299B55F99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ACD5E-747E-A203-F97E-C05A827FA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CDDC0-E1B6-13FA-BAFC-AA3539898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61792-9E7B-4C6F-AE12-0010476464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306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F73A1-90C2-D9BF-9C38-BF05F97B6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734C67-9A78-E92B-AC4F-C3234E235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1818B9-1DD4-6B45-6363-3CF62E00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8C5F7C-8E97-BBD8-73E5-4BDD60C5E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41B40E-E42A-BE62-EFE4-8D498F398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13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8E44E-BE99-9CCF-AEEA-CD982DB2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D5336D-A74E-5249-2038-2D101E2F1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40CA33-FDD0-1463-938D-51FC9E26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8D2A7F-9F87-9306-34A0-AB11A614B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217400-7F47-8588-0967-8A15FB9C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91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CE4FB-857B-8C16-382E-B94165D4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153BF4-68B4-C03D-7CDC-E38175FB1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3D437-052B-97EC-5222-17390343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FFB68-41E4-8832-113A-914E2CBA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5BC676-1EF6-4463-0EE8-E0A9380A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96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0E04E-3CEC-C14B-A31A-F896C0BA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EDEB1F-0F23-68DB-CF92-B5D1425EA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44913A-80C0-FA5E-04CA-8EB7E41D6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635E4-AE9E-1E4A-D90A-69E73626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7BE78F-A840-3438-5A88-0CBE58A2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0E49EA-9862-3D4F-F6B7-D6C8ADEC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53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DE78C-99EB-E0E7-BFB3-FB3FCB01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6AD14-7949-DC58-7DC8-14421E5C3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010E11-9D2C-ECFC-5F6D-B805C0A74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A91FD7-369F-5F57-FA22-C5212CC1C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B1DE9F-77E3-5C85-C21D-D3AA9F1C2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2BA1A87-2092-D357-164A-D7F1434A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47AE7F-9078-CBB0-68FD-457F8379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CBC6BF-B95C-0A15-CBC3-DDDFDDEA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305D8-E724-C259-7C99-CEE110A1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A631AE-2BDB-4980-F230-D6A61FFE6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220FCD-0E4A-22B3-D7D7-9F34DC89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48F7A6F-F410-020A-8277-1B72F46A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13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DEDBD23-5C84-0D3D-2822-1EADC73B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884D6E-C80A-AFBE-A59C-64EA8031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337457-5CD2-658C-71D6-D2CE4D8A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66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F929D-887E-8F31-A742-1EC2C38E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EDE19A-BA6F-4A79-8F8B-71F663923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ED8D7B-8D7E-32AD-AE75-8AC38B6EC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3317C7-183E-6ADA-D36B-DC3679A4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988B48-70F9-B014-C4FF-77259B52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74BE70-DDE3-FF96-2E19-B5C93F5D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53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5C1A6-2755-7A94-0D58-588FE4AA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D9F952-17F7-2DA6-8A0F-CF353D4DC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C7425D-806C-B05D-DC34-D56303DF8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18F0D9-1C83-7DF0-7AB4-2C0D89A0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86DF2B-B650-28B3-3A9E-2BFC6BEB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59AD0A-755B-E6F4-5F73-BFEEFDE9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48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1ACFF-8DA1-B451-1744-B0AD47447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0AC803-1FA5-AFC9-2344-D9DD46960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5C302A-E271-262D-91A7-46C00507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9A052-65EF-9ECA-EEC3-1F72FCC5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2DEFC0-062D-ADE2-322F-6C1AE85E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878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B9C36C-0C45-F687-3405-FCC0466D2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F3BC12-18C9-2315-709C-03A026994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034E69-3178-48CA-F4E1-DC579C30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279F5A-3CBF-288C-A961-DAE52DF0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F000EA-571C-6EB2-786F-6AD466C9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786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879" cy="6863992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1116584" y="4753875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1116584" y="5006160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1116584" y="5258446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116583" y="2718323"/>
            <a:ext cx="8226211" cy="16093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6400"/>
            </a:lvl2pPr>
            <a:lvl3pPr>
              <a:defRPr sz="6400"/>
            </a:lvl3pPr>
            <a:lvl4pPr>
              <a:defRPr sz="6400"/>
            </a:lvl4pPr>
            <a:lvl5pPr>
              <a:defRPr sz="6400"/>
            </a:lvl5pPr>
          </a:lstStyle>
          <a:p>
            <a:pPr lvl="0"/>
            <a:r>
              <a:rPr lang="en-US" noProof="0" dirty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1333609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8476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17471" y="2447784"/>
            <a:ext cx="1526003" cy="19437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1187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E3F575F-E055-7D71-0574-F176259C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FB4DC2-BA5F-41B7-99E1-999FB5EC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A51E4A-8BB7-DB14-B7C6-73D9A93BD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DCE4F8-8B46-8803-13F7-EA0DBAD61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94F594-6EE5-8970-2DB0-D365993FE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92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i="1" dirty="0"/>
              <a:t>Adam Leonard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i="1" dirty="0"/>
              <a:t>Project and Services Coordinator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i="1" dirty="0" err="1"/>
              <a:t>Nov</a:t>
            </a:r>
            <a:r>
              <a:rPr lang="pt-BR" i="1" dirty="0"/>
              <a:t>, 2025</a:t>
            </a:r>
            <a:endParaRPr lang="en-US" i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39927" y="2857309"/>
            <a:ext cx="11075417" cy="1600758"/>
          </a:xfrm>
        </p:spPr>
        <p:txBody>
          <a:bodyPr/>
          <a:lstStyle/>
          <a:p>
            <a:r>
              <a:rPr lang="pt-BR" i="1" dirty="0"/>
              <a:t>Projeto: </a:t>
            </a:r>
            <a:r>
              <a:rPr lang="pt-BR" dirty="0"/>
              <a:t>18369</a:t>
            </a:r>
            <a:r>
              <a:rPr lang="pt-BR" i="1" dirty="0"/>
              <a:t> – </a:t>
            </a:r>
            <a:r>
              <a:rPr lang="pt-BR" dirty="0"/>
              <a:t>Projeto de Migração Botelho </a:t>
            </a:r>
            <a:r>
              <a:rPr lang="pt-BR" dirty="0" err="1"/>
              <a:t>Oftalmoclínica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333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2665368" y="890221"/>
            <a:ext cx="9470453" cy="5914827"/>
          </a:xfrm>
          <a:prstGeom prst="rect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83" name="CustomShape 2"/>
          <p:cNvSpPr/>
          <p:nvPr/>
        </p:nvSpPr>
        <p:spPr>
          <a:xfrm>
            <a:off x="44265" y="870885"/>
            <a:ext cx="2532795" cy="5503275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84" name="CustomShape 3"/>
          <p:cNvSpPr/>
          <p:nvPr/>
        </p:nvSpPr>
        <p:spPr>
          <a:xfrm>
            <a:off x="44265" y="201600"/>
            <a:ext cx="12072069" cy="59094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/>
          </a:p>
        </p:txBody>
      </p:sp>
      <p:grpSp>
        <p:nvGrpSpPr>
          <p:cNvPr id="85" name="Group 4"/>
          <p:cNvGrpSpPr/>
          <p:nvPr/>
        </p:nvGrpSpPr>
        <p:grpSpPr>
          <a:xfrm>
            <a:off x="75297" y="1440000"/>
            <a:ext cx="1382040" cy="360000"/>
            <a:chOff x="523800" y="1512720"/>
            <a:chExt cx="1382040" cy="345240"/>
          </a:xfrm>
        </p:grpSpPr>
        <p:sp>
          <p:nvSpPr>
            <p:cNvPr id="86" name="CustomShape 5"/>
            <p:cNvSpPr/>
            <p:nvPr/>
          </p:nvSpPr>
          <p:spPr>
            <a:xfrm>
              <a:off x="523800" y="15127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87" name="CustomShape 6"/>
            <p:cNvSpPr/>
            <p:nvPr/>
          </p:nvSpPr>
          <p:spPr>
            <a:xfrm>
              <a:off x="533880" y="15228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Previsto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8" name="Group 7"/>
          <p:cNvGrpSpPr/>
          <p:nvPr/>
        </p:nvGrpSpPr>
        <p:grpSpPr>
          <a:xfrm>
            <a:off x="75600" y="1854000"/>
            <a:ext cx="1382040" cy="360000"/>
            <a:chOff x="501120" y="1991520"/>
            <a:chExt cx="1382040" cy="345240"/>
          </a:xfrm>
        </p:grpSpPr>
        <p:sp>
          <p:nvSpPr>
            <p:cNvPr id="89" name="CustomShape 8"/>
            <p:cNvSpPr/>
            <p:nvPr/>
          </p:nvSpPr>
          <p:spPr>
            <a:xfrm>
              <a:off x="501120" y="19915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90" name="CustomShape 9"/>
            <p:cNvSpPr/>
            <p:nvPr/>
          </p:nvSpPr>
          <p:spPr>
            <a:xfrm>
              <a:off x="511200" y="20016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Realizado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1" name="Group 10"/>
          <p:cNvGrpSpPr/>
          <p:nvPr/>
        </p:nvGrpSpPr>
        <p:grpSpPr>
          <a:xfrm>
            <a:off x="75600" y="2274425"/>
            <a:ext cx="1382040" cy="360000"/>
            <a:chOff x="490680" y="2473920"/>
            <a:chExt cx="1382040" cy="345240"/>
          </a:xfrm>
        </p:grpSpPr>
        <p:sp>
          <p:nvSpPr>
            <p:cNvPr id="92" name="CustomShape 11"/>
            <p:cNvSpPr/>
            <p:nvPr/>
          </p:nvSpPr>
          <p:spPr>
            <a:xfrm>
              <a:off x="490680" y="24739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93" name="CustomShape 12"/>
            <p:cNvSpPr/>
            <p:nvPr/>
          </p:nvSpPr>
          <p:spPr>
            <a:xfrm>
              <a:off x="501120" y="24840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Desvio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3" name="CustomShape 22"/>
          <p:cNvSpPr/>
          <p:nvPr/>
        </p:nvSpPr>
        <p:spPr>
          <a:xfrm>
            <a:off x="1519200" y="1854453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77%</a:t>
            </a:r>
          </a:p>
        </p:txBody>
      </p:sp>
      <p:sp>
        <p:nvSpPr>
          <p:cNvPr id="104" name="CustomShape 23"/>
          <p:cNvSpPr/>
          <p:nvPr/>
        </p:nvSpPr>
        <p:spPr>
          <a:xfrm>
            <a:off x="1519199" y="2285185"/>
            <a:ext cx="96120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0%</a:t>
            </a:r>
          </a:p>
        </p:txBody>
      </p:sp>
      <p:sp>
        <p:nvSpPr>
          <p:cNvPr id="105" name="CustomShape 24"/>
          <p:cNvSpPr/>
          <p:nvPr/>
        </p:nvSpPr>
        <p:spPr>
          <a:xfrm>
            <a:off x="1519200" y="1430805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75%</a:t>
            </a:r>
          </a:p>
        </p:txBody>
      </p:sp>
      <p:grpSp>
        <p:nvGrpSpPr>
          <p:cNvPr id="109" name="Group 28"/>
          <p:cNvGrpSpPr/>
          <p:nvPr/>
        </p:nvGrpSpPr>
        <p:grpSpPr>
          <a:xfrm>
            <a:off x="75599" y="4461112"/>
            <a:ext cx="1382400" cy="342000"/>
            <a:chOff x="480600" y="4473000"/>
            <a:chExt cx="1382040" cy="273960"/>
          </a:xfrm>
        </p:grpSpPr>
        <p:sp>
          <p:nvSpPr>
            <p:cNvPr id="110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11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Prazo</a:t>
              </a:r>
            </a:p>
          </p:txBody>
        </p:sp>
      </p:grpSp>
      <p:sp>
        <p:nvSpPr>
          <p:cNvPr id="127" name="CustomShape 46"/>
          <p:cNvSpPr/>
          <p:nvPr/>
        </p:nvSpPr>
        <p:spPr>
          <a:xfrm>
            <a:off x="3547080" y="1596240"/>
            <a:ext cx="262728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CustomShape 49"/>
          <p:cNvSpPr/>
          <p:nvPr/>
        </p:nvSpPr>
        <p:spPr>
          <a:xfrm>
            <a:off x="5718500" y="364421"/>
            <a:ext cx="1361880" cy="325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5" name="Group 54"/>
          <p:cNvGrpSpPr/>
          <p:nvPr/>
        </p:nvGrpSpPr>
        <p:grpSpPr>
          <a:xfrm>
            <a:off x="74523" y="1021540"/>
            <a:ext cx="1382040" cy="360000"/>
            <a:chOff x="523440" y="1098720"/>
            <a:chExt cx="1382040" cy="345240"/>
          </a:xfrm>
        </p:grpSpPr>
        <p:sp>
          <p:nvSpPr>
            <p:cNvPr id="136" name="CustomShape 55"/>
            <p:cNvSpPr/>
            <p:nvPr/>
          </p:nvSpPr>
          <p:spPr>
            <a:xfrm>
              <a:off x="523440" y="10987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37" name="CustomShape 56"/>
            <p:cNvSpPr/>
            <p:nvPr/>
          </p:nvSpPr>
          <p:spPr>
            <a:xfrm>
              <a:off x="533520" y="11088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Escore</a:t>
              </a: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*</a:t>
              </a:r>
            </a:p>
          </p:txBody>
        </p:sp>
      </p:grpSp>
      <p:sp>
        <p:nvSpPr>
          <p:cNvPr id="138" name="CustomShape 57"/>
          <p:cNvSpPr/>
          <p:nvPr/>
        </p:nvSpPr>
        <p:spPr>
          <a:xfrm>
            <a:off x="1519185" y="1013730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92</a:t>
            </a:r>
            <a:endParaRPr kumimoji="0" lang="pt-BR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9" name="Group 58"/>
          <p:cNvGrpSpPr/>
          <p:nvPr/>
        </p:nvGrpSpPr>
        <p:grpSpPr>
          <a:xfrm>
            <a:off x="2652029" y="968220"/>
            <a:ext cx="3875771" cy="378000"/>
            <a:chOff x="3280680" y="1082520"/>
            <a:chExt cx="2825280" cy="388800"/>
          </a:xfrm>
        </p:grpSpPr>
        <p:sp>
          <p:nvSpPr>
            <p:cNvPr id="140" name="CustomShape 59"/>
            <p:cNvSpPr/>
            <p:nvPr/>
          </p:nvSpPr>
          <p:spPr>
            <a:xfrm>
              <a:off x="3337560" y="108252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41" name="CustomShape 60"/>
            <p:cNvSpPr/>
            <p:nvPr/>
          </p:nvSpPr>
          <p:spPr>
            <a:xfrm>
              <a:off x="3280680" y="110484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Atividades Realizadas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2" name="Group 61"/>
          <p:cNvGrpSpPr/>
          <p:nvPr/>
        </p:nvGrpSpPr>
        <p:grpSpPr>
          <a:xfrm>
            <a:off x="6663268" y="963245"/>
            <a:ext cx="2076704" cy="379275"/>
            <a:chOff x="6145920" y="1092960"/>
            <a:chExt cx="2825640" cy="388800"/>
          </a:xfrm>
        </p:grpSpPr>
        <p:sp>
          <p:nvSpPr>
            <p:cNvPr id="143" name="CustomShape 62"/>
            <p:cNvSpPr/>
            <p:nvPr/>
          </p:nvSpPr>
          <p:spPr>
            <a:xfrm>
              <a:off x="620316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44" name="CustomShape 63"/>
            <p:cNvSpPr/>
            <p:nvPr/>
          </p:nvSpPr>
          <p:spPr>
            <a:xfrm>
              <a:off x="614592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Atividades Previstas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2" name="CustomShape 71"/>
          <p:cNvSpPr/>
          <p:nvPr/>
        </p:nvSpPr>
        <p:spPr>
          <a:xfrm>
            <a:off x="9858827" y="1342520"/>
            <a:ext cx="2435580" cy="6217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DO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8" name="Group 64">
            <a:extLst>
              <a:ext uri="{FF2B5EF4-FFF2-40B4-BE49-F238E27FC236}">
                <a16:creationId xmlns:a16="http://schemas.microsoft.com/office/drawing/2014/main" id="{A1312087-29E4-4874-B52F-F67F3EED5AAA}"/>
              </a:ext>
            </a:extLst>
          </p:cNvPr>
          <p:cNvGrpSpPr/>
          <p:nvPr/>
        </p:nvGrpSpPr>
        <p:grpSpPr>
          <a:xfrm>
            <a:off x="8827645" y="968220"/>
            <a:ext cx="3229928" cy="378000"/>
            <a:chOff x="9075240" y="1092960"/>
            <a:chExt cx="2825280" cy="388800"/>
          </a:xfrm>
        </p:grpSpPr>
        <p:sp>
          <p:nvSpPr>
            <p:cNvPr id="79" name="CustomShape 65">
              <a:extLst>
                <a:ext uri="{FF2B5EF4-FFF2-40B4-BE49-F238E27FC236}">
                  <a16:creationId xmlns:a16="http://schemas.microsoft.com/office/drawing/2014/main" id="{15F3010B-1347-4068-88DA-225949313DC2}"/>
                </a:ext>
              </a:extLst>
            </p:cNvPr>
            <p:cNvSpPr/>
            <p:nvPr/>
          </p:nvSpPr>
          <p:spPr>
            <a:xfrm>
              <a:off x="913212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80" name="CustomShape 66">
              <a:extLst>
                <a:ext uri="{FF2B5EF4-FFF2-40B4-BE49-F238E27FC236}">
                  <a16:creationId xmlns:a16="http://schemas.microsoft.com/office/drawing/2014/main" id="{8CDF1929-554F-4983-9D62-CBDD5BE1609A}"/>
                </a:ext>
              </a:extLst>
            </p:cNvPr>
            <p:cNvSpPr/>
            <p:nvPr/>
          </p:nvSpPr>
          <p:spPr>
            <a:xfrm>
              <a:off x="907524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Help Need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7" name="Group 28"/>
          <p:cNvGrpSpPr/>
          <p:nvPr/>
        </p:nvGrpSpPr>
        <p:grpSpPr>
          <a:xfrm>
            <a:off x="75599" y="4837776"/>
            <a:ext cx="1382400" cy="342000"/>
            <a:chOff x="480600" y="4473000"/>
            <a:chExt cx="1382040" cy="273960"/>
          </a:xfrm>
        </p:grpSpPr>
        <p:sp>
          <p:nvSpPr>
            <p:cNvPr id="158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59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Riscos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1" name="Group 28"/>
          <p:cNvGrpSpPr/>
          <p:nvPr/>
        </p:nvGrpSpPr>
        <p:grpSpPr>
          <a:xfrm>
            <a:off x="75599" y="5218880"/>
            <a:ext cx="1382400" cy="342000"/>
            <a:chOff x="480600" y="4473000"/>
            <a:chExt cx="1382040" cy="273960"/>
          </a:xfrm>
        </p:grpSpPr>
        <p:sp>
          <p:nvSpPr>
            <p:cNvPr id="162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63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Recursos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5" name="Group 28"/>
          <p:cNvGrpSpPr/>
          <p:nvPr/>
        </p:nvGrpSpPr>
        <p:grpSpPr>
          <a:xfrm>
            <a:off x="75599" y="5595544"/>
            <a:ext cx="1382400" cy="342000"/>
            <a:chOff x="480600" y="4473000"/>
            <a:chExt cx="1382040" cy="273960"/>
          </a:xfrm>
        </p:grpSpPr>
        <p:sp>
          <p:nvSpPr>
            <p:cNvPr id="166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67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Escopo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8" name="CustomShape 41"/>
          <p:cNvSpPr/>
          <p:nvPr/>
        </p:nvSpPr>
        <p:spPr>
          <a:xfrm>
            <a:off x="1519185" y="5625951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grpSp>
        <p:nvGrpSpPr>
          <p:cNvPr id="169" name="Group 28"/>
          <p:cNvGrpSpPr/>
          <p:nvPr/>
        </p:nvGrpSpPr>
        <p:grpSpPr>
          <a:xfrm>
            <a:off x="75599" y="5982600"/>
            <a:ext cx="1382400" cy="342000"/>
            <a:chOff x="480600" y="4473000"/>
            <a:chExt cx="1382040" cy="273960"/>
          </a:xfrm>
        </p:grpSpPr>
        <p:sp>
          <p:nvSpPr>
            <p:cNvPr id="170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71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Custos**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2" name="CustomShape 41"/>
          <p:cNvSpPr/>
          <p:nvPr/>
        </p:nvSpPr>
        <p:spPr>
          <a:xfrm>
            <a:off x="1519200" y="6013007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6" name="CustomShape 41">
            <a:extLst>
              <a:ext uri="{FF2B5EF4-FFF2-40B4-BE49-F238E27FC236}">
                <a16:creationId xmlns:a16="http://schemas.microsoft.com/office/drawing/2014/main" id="{C1C5F1FF-1EC3-4C6C-9E2B-ED00614F95E7}"/>
              </a:ext>
            </a:extLst>
          </p:cNvPr>
          <p:cNvSpPr/>
          <p:nvPr/>
        </p:nvSpPr>
        <p:spPr>
          <a:xfrm>
            <a:off x="1519200" y="4866821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7" name="CustomShape 41">
            <a:extLst>
              <a:ext uri="{FF2B5EF4-FFF2-40B4-BE49-F238E27FC236}">
                <a16:creationId xmlns:a16="http://schemas.microsoft.com/office/drawing/2014/main" id="{F99D43E6-976A-4134-ACBC-584822593480}"/>
              </a:ext>
            </a:extLst>
          </p:cNvPr>
          <p:cNvSpPr/>
          <p:nvPr/>
        </p:nvSpPr>
        <p:spPr>
          <a:xfrm>
            <a:off x="1519185" y="5244271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8" name="CustomShape 41">
            <a:extLst>
              <a:ext uri="{FF2B5EF4-FFF2-40B4-BE49-F238E27FC236}">
                <a16:creationId xmlns:a16="http://schemas.microsoft.com/office/drawing/2014/main" id="{23D0F4D5-9F3B-466F-99A0-47D97CCD7B5F}"/>
              </a:ext>
            </a:extLst>
          </p:cNvPr>
          <p:cNvSpPr/>
          <p:nvPr/>
        </p:nvSpPr>
        <p:spPr>
          <a:xfrm>
            <a:off x="1519185" y="4495132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24" name="CuadroTexto 2">
            <a:extLst>
              <a:ext uri="{FF2B5EF4-FFF2-40B4-BE49-F238E27FC236}">
                <a16:creationId xmlns:a16="http://schemas.microsoft.com/office/drawing/2014/main" id="{E3564AA2-F29B-4255-840A-44C849DE8C1C}"/>
              </a:ext>
            </a:extLst>
          </p:cNvPr>
          <p:cNvSpPr txBox="1"/>
          <p:nvPr/>
        </p:nvSpPr>
        <p:spPr>
          <a:xfrm>
            <a:off x="2715085" y="1378418"/>
            <a:ext cx="3812715" cy="29012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Adequação do parque de infraestrutura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Durante os períodos de 25 até 29 de agosto de 2025, de 15 até 19 de setembro de 2025 e de 03 até 21 de novembro de 2025, foram realizados o treinamento Migração HTML5, treinamento e auxílio nas configurações e testes dos perfis em HTML5, treinamento e acompanhamento e auxílio dos </a:t>
            </a:r>
            <a:r>
              <a:rPr lang="pt-BR" sz="900" dirty="0" err="1"/>
              <a:t>key</a:t>
            </a:r>
            <a:r>
              <a:rPr lang="pt-BR" sz="900" dirty="0"/>
              <a:t> </a:t>
            </a:r>
            <a:r>
              <a:rPr lang="pt-BR" sz="900" dirty="0" err="1"/>
              <a:t>user</a:t>
            </a:r>
            <a:r>
              <a:rPr lang="pt-BR" sz="900" dirty="0"/>
              <a:t> e usuários finais das áreas de Recepção Consulta, Recepção de Exames, </a:t>
            </a:r>
            <a:r>
              <a:rPr lang="pt-BR" sz="900" dirty="0" err="1"/>
              <a:t>Call</a:t>
            </a:r>
            <a:r>
              <a:rPr lang="pt-BR" sz="900" dirty="0"/>
              <a:t> Center, </a:t>
            </a:r>
            <a:r>
              <a:rPr lang="pt-BR" sz="900" dirty="0" err="1"/>
              <a:t>Pré</a:t>
            </a:r>
            <a:r>
              <a:rPr lang="pt-BR" sz="900" dirty="0"/>
              <a:t>-Consultas, Orientação Cirúrgica, Enfermagem, Exames, Farmácia, Almoxarifado/Compras, Centro Cirúrgico e Consultório Médico na utilização do Tasy HTML5.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endParaRPr lang="pt-BR" sz="9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Agendamentos = para as áreas de </a:t>
            </a:r>
            <a:r>
              <a:rPr lang="pt-BR" sz="900" dirty="0" err="1"/>
              <a:t>Call</a:t>
            </a:r>
            <a:r>
              <a:rPr lang="pt-BR" sz="900" dirty="0"/>
              <a:t> Center e </a:t>
            </a:r>
            <a:r>
              <a:rPr lang="pt-BR" sz="900" dirty="0" err="1"/>
              <a:t>Pré</a:t>
            </a:r>
            <a:r>
              <a:rPr lang="pt-BR" sz="900" dirty="0"/>
              <a:t>-Consulta.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Anestesistas = para área do Centro Cirúrgico.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Enfermagem = para as áreas de Enfermagem, Exames e Centro Cirúrgico.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Farmácia = para as áreas de Farmácia, Centro Cirúrgico e Almoxarifado/Compras.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Médico = para área do Consultório Médico.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Recepção = para área de Recepção Consultas.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Recepção Exames = para área Recepção Exames.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Recepção Lentes de Contato = para área Recepção Consultas. </a:t>
            </a:r>
            <a:endParaRPr lang="pt-BR" sz="9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99364" y="1352688"/>
            <a:ext cx="3216970" cy="2918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Apoio nos cases abertos: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CS0428059 - não está carregando Status do paciente na agenda de consulta  - Case ao DEV para correção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CS0441433 - Diferenças do item Refração em HTML e Delphi – Case em analise da causa raiz por parte do DEV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CS0447061 - Acessar os anexos do </a:t>
            </a:r>
            <a:r>
              <a:rPr lang="pt-BR" sz="900" dirty="0" err="1">
                <a:solidFill>
                  <a:srgbClr val="FF0000"/>
                </a:solidFill>
                <a:latin typeface="Lato" panose="020F0502020204030203" pitchFamily="34" charset="0"/>
              </a:rPr>
              <a:t>prontuario</a:t>
            </a: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 em outra aba do navegador - Componente de visualização de imagem funciona em um escopo independente dos registros apresentados na grid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CS0454282 - Salvar filtros conforme agendas selecionadas – Case escalado para o time técnico.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CS0455462 - Seleção de Lentes aparecer todas do Paciente – Case em análise do DEV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CS0455613 - Descrição do resumo de Oftalmologia – em atendimento pelo suporte</a:t>
            </a:r>
          </a:p>
        </p:txBody>
      </p:sp>
      <p:sp>
        <p:nvSpPr>
          <p:cNvPr id="101" name="CustomShape 50"/>
          <p:cNvSpPr/>
          <p:nvPr/>
        </p:nvSpPr>
        <p:spPr>
          <a:xfrm>
            <a:off x="8479178" y="302682"/>
            <a:ext cx="421200" cy="405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108" name="CustomShape 51"/>
          <p:cNvSpPr/>
          <p:nvPr/>
        </p:nvSpPr>
        <p:spPr>
          <a:xfrm>
            <a:off x="228600" y="317852"/>
            <a:ext cx="990600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Projeto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CustomShape 52"/>
          <p:cNvSpPr/>
          <p:nvPr/>
        </p:nvSpPr>
        <p:spPr>
          <a:xfrm>
            <a:off x="1219199" y="399420"/>
            <a:ext cx="3554044" cy="2755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lvl="0">
              <a:defRPr/>
            </a:pPr>
            <a:r>
              <a:rPr lang="pt-BR" sz="1200" dirty="0"/>
              <a:t>18369</a:t>
            </a:r>
            <a:r>
              <a:rPr lang="pt-BR" sz="1200" i="1" dirty="0"/>
              <a:t> – </a:t>
            </a:r>
            <a:r>
              <a:rPr lang="pt-BR" sz="1200" dirty="0"/>
              <a:t>Projeto de Migração Botelho </a:t>
            </a:r>
            <a:r>
              <a:rPr lang="pt-BR" sz="1200" dirty="0" err="1"/>
              <a:t>Oftalmoclínica</a:t>
            </a:r>
            <a:endParaRPr lang="pt-BR" sz="12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CustomShape 51"/>
          <p:cNvSpPr/>
          <p:nvPr/>
        </p:nvSpPr>
        <p:spPr>
          <a:xfrm>
            <a:off x="4773243" y="317852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CustomShape 51"/>
          <p:cNvSpPr/>
          <p:nvPr/>
        </p:nvSpPr>
        <p:spPr>
          <a:xfrm>
            <a:off x="7505495" y="327026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CustomShape 51"/>
          <p:cNvSpPr/>
          <p:nvPr/>
        </p:nvSpPr>
        <p:spPr>
          <a:xfrm>
            <a:off x="9058784" y="320979"/>
            <a:ext cx="902505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GO Live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CustomShape 52"/>
          <p:cNvSpPr/>
          <p:nvPr/>
        </p:nvSpPr>
        <p:spPr>
          <a:xfrm>
            <a:off x="5635182" y="350846"/>
            <a:ext cx="1862504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Adam Leonard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CustomShape 52">
            <a:extLst>
              <a:ext uri="{FF2B5EF4-FFF2-40B4-BE49-F238E27FC236}">
                <a16:creationId xmlns:a16="http://schemas.microsoft.com/office/drawing/2014/main" id="{6567A6BD-93AA-4E17-B779-7B6C47222AAD}"/>
              </a:ext>
            </a:extLst>
          </p:cNvPr>
          <p:cNvSpPr/>
          <p:nvPr/>
        </p:nvSpPr>
        <p:spPr>
          <a:xfrm>
            <a:off x="75297" y="4189477"/>
            <a:ext cx="3010392" cy="3063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-1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Áreas do Projeto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730880-427A-4373-887C-1F6BAFF42C13}"/>
              </a:ext>
            </a:extLst>
          </p:cNvPr>
          <p:cNvSpPr txBox="1"/>
          <p:nvPr/>
        </p:nvSpPr>
        <p:spPr>
          <a:xfrm>
            <a:off x="-22875" y="6490156"/>
            <a:ext cx="3154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*Aplicável apenas para projetos Tasy EMR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0375EFB-66AF-4F53-8801-B7593DF47DD4}"/>
              </a:ext>
            </a:extLst>
          </p:cNvPr>
          <p:cNvSpPr txBox="1"/>
          <p:nvPr/>
        </p:nvSpPr>
        <p:spPr>
          <a:xfrm>
            <a:off x="-22812" y="6589604"/>
            <a:ext cx="24612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**Aplicável para projetos ≠ de pacotes.</a:t>
            </a:r>
          </a:p>
        </p:txBody>
      </p:sp>
      <p:sp>
        <p:nvSpPr>
          <p:cNvPr id="100" name="CustomShape 63">
            <a:extLst>
              <a:ext uri="{FF2B5EF4-FFF2-40B4-BE49-F238E27FC236}">
                <a16:creationId xmlns:a16="http://schemas.microsoft.com/office/drawing/2014/main" id="{8CB80522-39E1-4496-B6C2-1DDB55501B2F}"/>
              </a:ext>
            </a:extLst>
          </p:cNvPr>
          <p:cNvSpPr/>
          <p:nvPr/>
        </p:nvSpPr>
        <p:spPr>
          <a:xfrm>
            <a:off x="9006774" y="5703119"/>
            <a:ext cx="3024261" cy="3575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sng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Riscos próximo slide</a:t>
            </a:r>
            <a:endParaRPr kumimoji="0" lang="pt-BR" sz="1400" b="0" i="0" u="sng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4FE875D4-B438-C7A0-352E-16A2B2DA1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010089"/>
              </p:ext>
            </p:extLst>
          </p:nvPr>
        </p:nvGraphicFramePr>
        <p:xfrm>
          <a:off x="121709" y="2860348"/>
          <a:ext cx="2377906" cy="1076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133797" imgH="965244" progId="Excel.Sheet.12">
                  <p:embed/>
                </p:oleObj>
              </mc:Choice>
              <mc:Fallback>
                <p:oleObj name="Worksheet" r:id="rId3" imgW="2133797" imgH="965244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4FE875D4-B438-C7A0-352E-16A2B2DA1F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709" y="2860348"/>
                        <a:ext cx="2377906" cy="1076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2">
            <a:extLst>
              <a:ext uri="{FF2B5EF4-FFF2-40B4-BE49-F238E27FC236}">
                <a16:creationId xmlns:a16="http://schemas.microsoft.com/office/drawing/2014/main" id="{0F989847-3246-CB43-5B50-FC35EA5380E4}"/>
              </a:ext>
            </a:extLst>
          </p:cNvPr>
          <p:cNvSpPr txBox="1"/>
          <p:nvPr/>
        </p:nvSpPr>
        <p:spPr>
          <a:xfrm>
            <a:off x="6687827" y="1338574"/>
            <a:ext cx="2051510" cy="23770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Escalação, priorização e acompanhamento dos Cases abertos pelo cliente para a plataforma HMTL5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Acompanhamento do analista de TI para execução da migração das áreas verdes conforme previsto no cronograma.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Alocação de um consultor especialista para apoio na migração das áreas de backoffice, faturamento.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Acompanhamento do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Rollout</a:t>
            </a: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para o consultório em Indaial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pt-BR" sz="9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stomShape 52">
            <a:extLst>
              <a:ext uri="{FF2B5EF4-FFF2-40B4-BE49-F238E27FC236}">
                <a16:creationId xmlns:a16="http://schemas.microsoft.com/office/drawing/2014/main" id="{0F26C21C-ABA6-B9BF-E160-570F4876A12E}"/>
              </a:ext>
            </a:extLst>
          </p:cNvPr>
          <p:cNvSpPr/>
          <p:nvPr/>
        </p:nvSpPr>
        <p:spPr>
          <a:xfrm>
            <a:off x="9961289" y="352401"/>
            <a:ext cx="144694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Fev</a:t>
            </a: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/2026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a 19">
            <a:extLst>
              <a:ext uri="{FF2B5EF4-FFF2-40B4-BE49-F238E27FC236}">
                <a16:creationId xmlns:a16="http://schemas.microsoft.com/office/drawing/2014/main" id="{2C84D334-E3CF-3358-FB47-3067F24A7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734162"/>
              </p:ext>
            </p:extLst>
          </p:nvPr>
        </p:nvGraphicFramePr>
        <p:xfrm>
          <a:off x="2959915" y="4348682"/>
          <a:ext cx="8854679" cy="2366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318">
                  <a:extLst>
                    <a:ext uri="{9D8B030D-6E8A-4147-A177-3AD203B41FA5}">
                      <a16:colId xmlns:a16="http://schemas.microsoft.com/office/drawing/2014/main" val="466442951"/>
                    </a:ext>
                  </a:extLst>
                </a:gridCol>
                <a:gridCol w="4089713">
                  <a:extLst>
                    <a:ext uri="{9D8B030D-6E8A-4147-A177-3AD203B41FA5}">
                      <a16:colId xmlns:a16="http://schemas.microsoft.com/office/drawing/2014/main" val="838317269"/>
                    </a:ext>
                  </a:extLst>
                </a:gridCol>
                <a:gridCol w="760024">
                  <a:extLst>
                    <a:ext uri="{9D8B030D-6E8A-4147-A177-3AD203B41FA5}">
                      <a16:colId xmlns:a16="http://schemas.microsoft.com/office/drawing/2014/main" val="56476824"/>
                    </a:ext>
                  </a:extLst>
                </a:gridCol>
                <a:gridCol w="1168637">
                  <a:extLst>
                    <a:ext uri="{9D8B030D-6E8A-4147-A177-3AD203B41FA5}">
                      <a16:colId xmlns:a16="http://schemas.microsoft.com/office/drawing/2014/main" val="2484166656"/>
                    </a:ext>
                  </a:extLst>
                </a:gridCol>
                <a:gridCol w="868987">
                  <a:extLst>
                    <a:ext uri="{9D8B030D-6E8A-4147-A177-3AD203B41FA5}">
                      <a16:colId xmlns:a16="http://schemas.microsoft.com/office/drawing/2014/main" val="2396283000"/>
                    </a:ext>
                  </a:extLst>
                </a:gridCol>
              </a:tblGrid>
              <a:tr h="227076"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Risco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Plano de Ação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Criticidade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u="none" strike="noStrike" spc="-80" noProof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Responsável</a:t>
                      </a:r>
                      <a:endParaRPr lang="pt-BR" sz="1600" b="0" i="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000" b="0" u="none" strike="noStrike" kern="1200" spc="-8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es-ES" sz="1000" b="0" u="none" strike="noStrike" kern="1200" spc="-80" baseline="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Limite</a:t>
                      </a:r>
                      <a:endParaRPr lang="es-ES" sz="1000" b="0" u="none" strike="noStrike" kern="1200" spc="-8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extLst>
                  <a:ext uri="{0D108BD9-81ED-4DB2-BD59-A6C34878D82A}">
                    <a16:rowId xmlns:a16="http://schemas.microsoft.com/office/drawing/2014/main" val="2908511913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/>
                      <a:r>
                        <a:rPr lang="pt-BR" sz="1100" b="0" dirty="0">
                          <a:latin typeface="Calibri"/>
                          <a:cs typeface="Calibri"/>
                        </a:rPr>
                        <a:t>Equipe de TI  com limitação técnica e operacional</a:t>
                      </a:r>
                      <a:endParaRPr lang="es-DO" sz="1100" b="0" dirty="0">
                        <a:latin typeface="Calibri"/>
                        <a:cs typeface="Calibri"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pt-BR" sz="1000" dirty="0">
                          <a:latin typeface="+mn-lt"/>
                          <a:cs typeface="Calibri"/>
                        </a:rPr>
                        <a:t>Identificar internos que possuem maior conhecimento e facilidade em utilização do sistema Tasy, principalmente em sua área e aumentar a autonomia.</a:t>
                      </a:r>
                      <a:endParaRPr lang="pt-BR" sz="1000" dirty="0">
                        <a:latin typeface="Calibri"/>
                        <a:cs typeface="Calibri"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s-DO" sz="1000" b="0" i="0" dirty="0">
                        <a:effectLst/>
                        <a:latin typeface="Calibri"/>
                        <a:cs typeface="Calibri"/>
                      </a:endParaRP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s-DO" sz="1000" b="0" i="0" dirty="0">
                          <a:effectLst/>
                          <a:latin typeface="Calibri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Calibri"/>
                          <a:cs typeface="Calibri"/>
                        </a:rPr>
                        <a:t>Encerrado</a:t>
                      </a:r>
                    </a:p>
                  </a:txBody>
                  <a:tcPr marL="19050" marR="19050" marT="17318" marB="17318" anchor="ctr"/>
                </a:tc>
                <a:extLst>
                  <a:ext uri="{0D108BD9-81ED-4DB2-BD59-A6C34878D82A}">
                    <a16:rowId xmlns:a16="http://schemas.microsoft.com/office/drawing/2014/main" val="1907594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Analista dedicado ao projeto conforme premissa para migração do sistema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pt-B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Organização interna e adequação das demandas do analista de TI para disponibilidade e cumprimento dos 6 passos da migração (Ajustar perfis, Parametrizar, validar, treinar, virar e sustentar)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1713417304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+mn-lt"/>
                          <a:cs typeface="Calibri"/>
                        </a:rPr>
                        <a:t>Equipamentos  inferiores a recomendação Philips</a:t>
                      </a:r>
                      <a:endParaRPr lang="pt-BR" sz="1100" b="0" baseline="0" dirty="0">
                        <a:latin typeface="Calibri"/>
                        <a:cs typeface="Calibri"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pt-B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Adequação do parque de infra estrutura e link conforme os pre requisitos necessários para a nova plataforma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3800331057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Ajustes realizados diretamente no banco de dados pelo 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pt-BR" sz="1000" baseline="0" dirty="0">
                          <a:latin typeface="Calibri"/>
                          <a:cs typeface="Calibri"/>
                        </a:rPr>
                        <a:t>Adequar a usabilidade do sistema ao que o mesmo oferece sem a necessidade de ajustes diretamente no banco de dados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3203438028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Adequação de relatórios customizados para o HTML5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pt-BR" sz="1000" baseline="0" dirty="0">
                          <a:latin typeface="Calibri"/>
                          <a:cs typeface="Calibri"/>
                        </a:rPr>
                        <a:t>Capacitação técnica da equipe de TI para ajustes e adequações de relatórios as necessidade da instituição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238504305"/>
                  </a:ext>
                </a:extLst>
              </a:tr>
            </a:tbl>
          </a:graphicData>
        </a:graphic>
      </p:graphicFrame>
      <p:sp>
        <p:nvSpPr>
          <p:cNvPr id="11" name="CustomShape 50">
            <a:extLst>
              <a:ext uri="{FF2B5EF4-FFF2-40B4-BE49-F238E27FC236}">
                <a16:creationId xmlns:a16="http://schemas.microsoft.com/office/drawing/2014/main" id="{B775582B-A4B2-C874-AACE-9E19585F0725}"/>
              </a:ext>
            </a:extLst>
          </p:cNvPr>
          <p:cNvSpPr/>
          <p:nvPr/>
        </p:nvSpPr>
        <p:spPr>
          <a:xfrm>
            <a:off x="9351605" y="4740071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3" name="CustomShape 50">
            <a:extLst>
              <a:ext uri="{FF2B5EF4-FFF2-40B4-BE49-F238E27FC236}">
                <a16:creationId xmlns:a16="http://schemas.microsoft.com/office/drawing/2014/main" id="{4A5A52C9-9420-5BBB-14CC-ECA547540F5B}"/>
              </a:ext>
            </a:extLst>
          </p:cNvPr>
          <p:cNvSpPr/>
          <p:nvPr/>
        </p:nvSpPr>
        <p:spPr>
          <a:xfrm>
            <a:off x="9351288" y="5257459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7" name="CustomShape 50">
            <a:extLst>
              <a:ext uri="{FF2B5EF4-FFF2-40B4-BE49-F238E27FC236}">
                <a16:creationId xmlns:a16="http://schemas.microsoft.com/office/drawing/2014/main" id="{168CDF54-6E6D-EF80-F858-9023C91BB98F}"/>
              </a:ext>
            </a:extLst>
          </p:cNvPr>
          <p:cNvSpPr/>
          <p:nvPr/>
        </p:nvSpPr>
        <p:spPr>
          <a:xfrm>
            <a:off x="9351288" y="5709671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2" name="CustomShape 50">
            <a:extLst>
              <a:ext uri="{FF2B5EF4-FFF2-40B4-BE49-F238E27FC236}">
                <a16:creationId xmlns:a16="http://schemas.microsoft.com/office/drawing/2014/main" id="{E2675F4D-924F-B9AD-6565-2B1038BF08A8}"/>
              </a:ext>
            </a:extLst>
          </p:cNvPr>
          <p:cNvSpPr/>
          <p:nvPr/>
        </p:nvSpPr>
        <p:spPr>
          <a:xfrm>
            <a:off x="9351288" y="6089468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4" name="CustomShape 50">
            <a:extLst>
              <a:ext uri="{FF2B5EF4-FFF2-40B4-BE49-F238E27FC236}">
                <a16:creationId xmlns:a16="http://schemas.microsoft.com/office/drawing/2014/main" id="{015085D9-906C-CAB8-5B5F-34B8664A74A9}"/>
              </a:ext>
            </a:extLst>
          </p:cNvPr>
          <p:cNvSpPr/>
          <p:nvPr/>
        </p:nvSpPr>
        <p:spPr>
          <a:xfrm>
            <a:off x="9351288" y="6489918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55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8B82-5842-A7A6-ADFE-5CC142333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8DCF9F49-672B-7CF0-7F23-00F4865CB801}"/>
              </a:ext>
            </a:extLst>
          </p:cNvPr>
          <p:cNvSpPr/>
          <p:nvPr/>
        </p:nvSpPr>
        <p:spPr>
          <a:xfrm>
            <a:off x="123093" y="890220"/>
            <a:ext cx="11999390" cy="5914827"/>
          </a:xfrm>
          <a:prstGeom prst="rect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17C2878D-596C-3CDA-5A22-4998F289DC7A}"/>
              </a:ext>
            </a:extLst>
          </p:cNvPr>
          <p:cNvSpPr/>
          <p:nvPr/>
        </p:nvSpPr>
        <p:spPr>
          <a:xfrm>
            <a:off x="44265" y="201600"/>
            <a:ext cx="12072069" cy="59094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130" name="CustomShape 49">
            <a:extLst>
              <a:ext uri="{FF2B5EF4-FFF2-40B4-BE49-F238E27FC236}">
                <a16:creationId xmlns:a16="http://schemas.microsoft.com/office/drawing/2014/main" id="{38612F1F-BBE9-E885-8044-9DAE053D16B5}"/>
              </a:ext>
            </a:extLst>
          </p:cNvPr>
          <p:cNvSpPr/>
          <p:nvPr/>
        </p:nvSpPr>
        <p:spPr>
          <a:xfrm>
            <a:off x="5718500" y="364421"/>
            <a:ext cx="1361880" cy="325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2" name="Group 61">
            <a:extLst>
              <a:ext uri="{FF2B5EF4-FFF2-40B4-BE49-F238E27FC236}">
                <a16:creationId xmlns:a16="http://schemas.microsoft.com/office/drawing/2014/main" id="{593C9BEB-24DB-2EC4-C760-0F1487E7288B}"/>
              </a:ext>
            </a:extLst>
          </p:cNvPr>
          <p:cNvGrpSpPr/>
          <p:nvPr/>
        </p:nvGrpSpPr>
        <p:grpSpPr>
          <a:xfrm>
            <a:off x="4709503" y="990365"/>
            <a:ext cx="2772994" cy="379275"/>
            <a:chOff x="6145920" y="1092960"/>
            <a:chExt cx="2825640" cy="388800"/>
          </a:xfrm>
        </p:grpSpPr>
        <p:sp>
          <p:nvSpPr>
            <p:cNvPr id="143" name="CustomShape 62">
              <a:extLst>
                <a:ext uri="{FF2B5EF4-FFF2-40B4-BE49-F238E27FC236}">
                  <a16:creationId xmlns:a16="http://schemas.microsoft.com/office/drawing/2014/main" id="{D01956F8-2B37-7388-046F-87F3E7A7ECBF}"/>
                </a:ext>
              </a:extLst>
            </p:cNvPr>
            <p:cNvSpPr/>
            <p:nvPr/>
          </p:nvSpPr>
          <p:spPr>
            <a:xfrm>
              <a:off x="620316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44" name="CustomShape 63">
              <a:extLst>
                <a:ext uri="{FF2B5EF4-FFF2-40B4-BE49-F238E27FC236}">
                  <a16:creationId xmlns:a16="http://schemas.microsoft.com/office/drawing/2014/main" id="{E750A626-9DB0-958F-EF5C-41AABBE21038}"/>
                </a:ext>
              </a:extLst>
            </p:cNvPr>
            <p:cNvSpPr/>
            <p:nvPr/>
          </p:nvSpPr>
          <p:spPr>
            <a:xfrm>
              <a:off x="614592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Andamento do cronograma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2" name="CustomShape 71">
            <a:extLst>
              <a:ext uri="{FF2B5EF4-FFF2-40B4-BE49-F238E27FC236}">
                <a16:creationId xmlns:a16="http://schemas.microsoft.com/office/drawing/2014/main" id="{DBDC4753-4DA0-FE5F-F21B-9E3C90C66322}"/>
              </a:ext>
            </a:extLst>
          </p:cNvPr>
          <p:cNvSpPr/>
          <p:nvPr/>
        </p:nvSpPr>
        <p:spPr>
          <a:xfrm>
            <a:off x="9858827" y="1342520"/>
            <a:ext cx="2435580" cy="6217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DO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CustomShape 50">
            <a:extLst>
              <a:ext uri="{FF2B5EF4-FFF2-40B4-BE49-F238E27FC236}">
                <a16:creationId xmlns:a16="http://schemas.microsoft.com/office/drawing/2014/main" id="{EF2787EE-AFA4-CD18-349E-2F27640F9D9E}"/>
              </a:ext>
            </a:extLst>
          </p:cNvPr>
          <p:cNvSpPr/>
          <p:nvPr/>
        </p:nvSpPr>
        <p:spPr>
          <a:xfrm>
            <a:off x="8479178" y="302682"/>
            <a:ext cx="421200" cy="405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CustomShape 51">
            <a:extLst>
              <a:ext uri="{FF2B5EF4-FFF2-40B4-BE49-F238E27FC236}">
                <a16:creationId xmlns:a16="http://schemas.microsoft.com/office/drawing/2014/main" id="{34922F99-F023-13F7-61AC-4A5F2A53F919}"/>
              </a:ext>
            </a:extLst>
          </p:cNvPr>
          <p:cNvSpPr/>
          <p:nvPr/>
        </p:nvSpPr>
        <p:spPr>
          <a:xfrm>
            <a:off x="228600" y="317852"/>
            <a:ext cx="990600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Projeto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CustomShape 52">
            <a:extLst>
              <a:ext uri="{FF2B5EF4-FFF2-40B4-BE49-F238E27FC236}">
                <a16:creationId xmlns:a16="http://schemas.microsoft.com/office/drawing/2014/main" id="{F3B2A210-0942-4E3D-4D11-E8CB8E0DD77B}"/>
              </a:ext>
            </a:extLst>
          </p:cNvPr>
          <p:cNvSpPr/>
          <p:nvPr/>
        </p:nvSpPr>
        <p:spPr>
          <a:xfrm>
            <a:off x="1219199" y="399420"/>
            <a:ext cx="3554044" cy="2755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lvl="0">
              <a:defRPr/>
            </a:pPr>
            <a:r>
              <a:rPr lang="pt-BR" sz="1200" dirty="0"/>
              <a:t>18369</a:t>
            </a:r>
            <a:r>
              <a:rPr lang="pt-BR" sz="1200" i="1" dirty="0"/>
              <a:t> – </a:t>
            </a:r>
            <a:r>
              <a:rPr lang="pt-BR" sz="1200" dirty="0"/>
              <a:t>Projeto de Migração Botelho </a:t>
            </a:r>
            <a:r>
              <a:rPr lang="pt-BR" sz="1200" dirty="0" err="1"/>
              <a:t>Oftalmoclínica</a:t>
            </a:r>
            <a:endParaRPr lang="pt-BR" sz="12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CustomShape 51">
            <a:extLst>
              <a:ext uri="{FF2B5EF4-FFF2-40B4-BE49-F238E27FC236}">
                <a16:creationId xmlns:a16="http://schemas.microsoft.com/office/drawing/2014/main" id="{C68970FA-DB6D-03AC-DB86-8702CD4CC776}"/>
              </a:ext>
            </a:extLst>
          </p:cNvPr>
          <p:cNvSpPr/>
          <p:nvPr/>
        </p:nvSpPr>
        <p:spPr>
          <a:xfrm>
            <a:off x="4773243" y="317852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CustomShape 51">
            <a:extLst>
              <a:ext uri="{FF2B5EF4-FFF2-40B4-BE49-F238E27FC236}">
                <a16:creationId xmlns:a16="http://schemas.microsoft.com/office/drawing/2014/main" id="{3B0CA17D-8954-DD5B-996B-86B62448030B}"/>
              </a:ext>
            </a:extLst>
          </p:cNvPr>
          <p:cNvSpPr/>
          <p:nvPr/>
        </p:nvSpPr>
        <p:spPr>
          <a:xfrm>
            <a:off x="7505495" y="327026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CustomShape 51">
            <a:extLst>
              <a:ext uri="{FF2B5EF4-FFF2-40B4-BE49-F238E27FC236}">
                <a16:creationId xmlns:a16="http://schemas.microsoft.com/office/drawing/2014/main" id="{BA4ED7E7-5792-8002-E4D9-22A8F1B9F540}"/>
              </a:ext>
            </a:extLst>
          </p:cNvPr>
          <p:cNvSpPr/>
          <p:nvPr/>
        </p:nvSpPr>
        <p:spPr>
          <a:xfrm>
            <a:off x="9058784" y="320979"/>
            <a:ext cx="902505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GO Live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CustomShape 52">
            <a:extLst>
              <a:ext uri="{FF2B5EF4-FFF2-40B4-BE49-F238E27FC236}">
                <a16:creationId xmlns:a16="http://schemas.microsoft.com/office/drawing/2014/main" id="{5744C0E3-3DE8-9F80-C4AE-1DBEBFFEF76E}"/>
              </a:ext>
            </a:extLst>
          </p:cNvPr>
          <p:cNvSpPr/>
          <p:nvPr/>
        </p:nvSpPr>
        <p:spPr>
          <a:xfrm>
            <a:off x="5635182" y="350846"/>
            <a:ext cx="1862504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Adam Leonard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stomShape 52">
            <a:extLst>
              <a:ext uri="{FF2B5EF4-FFF2-40B4-BE49-F238E27FC236}">
                <a16:creationId xmlns:a16="http://schemas.microsoft.com/office/drawing/2014/main" id="{56462AAE-082E-C9F9-9990-D1D6C31C8241}"/>
              </a:ext>
            </a:extLst>
          </p:cNvPr>
          <p:cNvSpPr/>
          <p:nvPr/>
        </p:nvSpPr>
        <p:spPr>
          <a:xfrm>
            <a:off x="9961289" y="352401"/>
            <a:ext cx="144694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Fev</a:t>
            </a: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/2026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5B7326F-FFBD-75A2-213C-DCA4806DF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99" y="1466964"/>
            <a:ext cx="10536001" cy="525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5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BE12-E9FC-071C-3697-6CA3D8D6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60D2AEF2-46B4-A57B-61A9-1EC36F583343}"/>
              </a:ext>
            </a:extLst>
          </p:cNvPr>
          <p:cNvSpPr/>
          <p:nvPr/>
        </p:nvSpPr>
        <p:spPr>
          <a:xfrm>
            <a:off x="123093" y="890220"/>
            <a:ext cx="11999390" cy="5914827"/>
          </a:xfrm>
          <a:prstGeom prst="rect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9B92F0F8-F7ED-09CB-133F-5645DEF1585D}"/>
              </a:ext>
            </a:extLst>
          </p:cNvPr>
          <p:cNvSpPr/>
          <p:nvPr/>
        </p:nvSpPr>
        <p:spPr>
          <a:xfrm>
            <a:off x="44265" y="201600"/>
            <a:ext cx="12072069" cy="59094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130" name="CustomShape 49">
            <a:extLst>
              <a:ext uri="{FF2B5EF4-FFF2-40B4-BE49-F238E27FC236}">
                <a16:creationId xmlns:a16="http://schemas.microsoft.com/office/drawing/2014/main" id="{53B8D596-D7C1-B9BA-7D62-B3A2BB19FFC2}"/>
              </a:ext>
            </a:extLst>
          </p:cNvPr>
          <p:cNvSpPr/>
          <p:nvPr/>
        </p:nvSpPr>
        <p:spPr>
          <a:xfrm>
            <a:off x="5718500" y="364421"/>
            <a:ext cx="1361880" cy="325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2" name="Group 61">
            <a:extLst>
              <a:ext uri="{FF2B5EF4-FFF2-40B4-BE49-F238E27FC236}">
                <a16:creationId xmlns:a16="http://schemas.microsoft.com/office/drawing/2014/main" id="{49BD9411-8FE2-C034-C7E1-472098EA67A3}"/>
              </a:ext>
            </a:extLst>
          </p:cNvPr>
          <p:cNvGrpSpPr/>
          <p:nvPr/>
        </p:nvGrpSpPr>
        <p:grpSpPr>
          <a:xfrm>
            <a:off x="4709503" y="990365"/>
            <a:ext cx="2772994" cy="379275"/>
            <a:chOff x="6145920" y="1092960"/>
            <a:chExt cx="2825640" cy="388800"/>
          </a:xfrm>
        </p:grpSpPr>
        <p:sp>
          <p:nvSpPr>
            <p:cNvPr id="143" name="CustomShape 62">
              <a:extLst>
                <a:ext uri="{FF2B5EF4-FFF2-40B4-BE49-F238E27FC236}">
                  <a16:creationId xmlns:a16="http://schemas.microsoft.com/office/drawing/2014/main" id="{F2D552F6-7AF4-E80F-99EC-A87217A97D98}"/>
                </a:ext>
              </a:extLst>
            </p:cNvPr>
            <p:cNvSpPr/>
            <p:nvPr/>
          </p:nvSpPr>
          <p:spPr>
            <a:xfrm>
              <a:off x="620316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144" name="CustomShape 63">
              <a:extLst>
                <a:ext uri="{FF2B5EF4-FFF2-40B4-BE49-F238E27FC236}">
                  <a16:creationId xmlns:a16="http://schemas.microsoft.com/office/drawing/2014/main" id="{78877833-9DAC-54DC-4140-897CA0D77661}"/>
                </a:ext>
              </a:extLst>
            </p:cNvPr>
            <p:cNvSpPr/>
            <p:nvPr/>
          </p:nvSpPr>
          <p:spPr>
            <a:xfrm>
              <a:off x="614592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Andamento do cronograma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2" name="CustomShape 71">
            <a:extLst>
              <a:ext uri="{FF2B5EF4-FFF2-40B4-BE49-F238E27FC236}">
                <a16:creationId xmlns:a16="http://schemas.microsoft.com/office/drawing/2014/main" id="{34C82108-F386-0B81-49E7-1EA2A0E58B3E}"/>
              </a:ext>
            </a:extLst>
          </p:cNvPr>
          <p:cNvSpPr/>
          <p:nvPr/>
        </p:nvSpPr>
        <p:spPr>
          <a:xfrm>
            <a:off x="9858827" y="1342520"/>
            <a:ext cx="2435580" cy="6217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DO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CustomShape 50">
            <a:extLst>
              <a:ext uri="{FF2B5EF4-FFF2-40B4-BE49-F238E27FC236}">
                <a16:creationId xmlns:a16="http://schemas.microsoft.com/office/drawing/2014/main" id="{6567FC34-7F97-FFC3-79C9-F2ED813ABFEB}"/>
              </a:ext>
            </a:extLst>
          </p:cNvPr>
          <p:cNvSpPr/>
          <p:nvPr/>
        </p:nvSpPr>
        <p:spPr>
          <a:xfrm>
            <a:off x="8479178" y="302682"/>
            <a:ext cx="421200" cy="405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108" name="CustomShape 51">
            <a:extLst>
              <a:ext uri="{FF2B5EF4-FFF2-40B4-BE49-F238E27FC236}">
                <a16:creationId xmlns:a16="http://schemas.microsoft.com/office/drawing/2014/main" id="{6974F621-CA8B-B654-5E60-DC342E70DCA7}"/>
              </a:ext>
            </a:extLst>
          </p:cNvPr>
          <p:cNvSpPr/>
          <p:nvPr/>
        </p:nvSpPr>
        <p:spPr>
          <a:xfrm>
            <a:off x="228600" y="317852"/>
            <a:ext cx="990600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Projeto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CustomShape 52">
            <a:extLst>
              <a:ext uri="{FF2B5EF4-FFF2-40B4-BE49-F238E27FC236}">
                <a16:creationId xmlns:a16="http://schemas.microsoft.com/office/drawing/2014/main" id="{840958A6-0BFD-E632-D319-747001E783ED}"/>
              </a:ext>
            </a:extLst>
          </p:cNvPr>
          <p:cNvSpPr/>
          <p:nvPr/>
        </p:nvSpPr>
        <p:spPr>
          <a:xfrm>
            <a:off x="1219199" y="399420"/>
            <a:ext cx="3554044" cy="2755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lvl="0">
              <a:defRPr/>
            </a:pPr>
            <a:r>
              <a:rPr lang="pt-BR" sz="1200" dirty="0"/>
              <a:t>18369</a:t>
            </a:r>
            <a:r>
              <a:rPr lang="pt-BR" sz="1200" i="1" dirty="0"/>
              <a:t> – </a:t>
            </a:r>
            <a:r>
              <a:rPr lang="pt-BR" sz="1200" dirty="0"/>
              <a:t>Projeto de Migração Botelho </a:t>
            </a:r>
            <a:r>
              <a:rPr lang="pt-BR" sz="1200" dirty="0" err="1"/>
              <a:t>Oftalmoclínica</a:t>
            </a:r>
            <a:endParaRPr lang="pt-BR" sz="12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CustomShape 51">
            <a:extLst>
              <a:ext uri="{FF2B5EF4-FFF2-40B4-BE49-F238E27FC236}">
                <a16:creationId xmlns:a16="http://schemas.microsoft.com/office/drawing/2014/main" id="{99DF366C-11B9-74FE-26AB-87A8E6B1D37D}"/>
              </a:ext>
            </a:extLst>
          </p:cNvPr>
          <p:cNvSpPr/>
          <p:nvPr/>
        </p:nvSpPr>
        <p:spPr>
          <a:xfrm>
            <a:off x="4773243" y="317852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CustomShape 51">
            <a:extLst>
              <a:ext uri="{FF2B5EF4-FFF2-40B4-BE49-F238E27FC236}">
                <a16:creationId xmlns:a16="http://schemas.microsoft.com/office/drawing/2014/main" id="{71D9DB0D-13D2-E0CA-8763-E690C8F49451}"/>
              </a:ext>
            </a:extLst>
          </p:cNvPr>
          <p:cNvSpPr/>
          <p:nvPr/>
        </p:nvSpPr>
        <p:spPr>
          <a:xfrm>
            <a:off x="7505495" y="327026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CustomShape 51">
            <a:extLst>
              <a:ext uri="{FF2B5EF4-FFF2-40B4-BE49-F238E27FC236}">
                <a16:creationId xmlns:a16="http://schemas.microsoft.com/office/drawing/2014/main" id="{84CBBEE2-D22C-0BFF-84E1-0AF364233238}"/>
              </a:ext>
            </a:extLst>
          </p:cNvPr>
          <p:cNvSpPr/>
          <p:nvPr/>
        </p:nvSpPr>
        <p:spPr>
          <a:xfrm>
            <a:off x="9058784" y="320979"/>
            <a:ext cx="902505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GO Live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CustomShape 52">
            <a:extLst>
              <a:ext uri="{FF2B5EF4-FFF2-40B4-BE49-F238E27FC236}">
                <a16:creationId xmlns:a16="http://schemas.microsoft.com/office/drawing/2014/main" id="{5AD9F2DC-146F-AC9A-2B24-4F2316747CA7}"/>
              </a:ext>
            </a:extLst>
          </p:cNvPr>
          <p:cNvSpPr/>
          <p:nvPr/>
        </p:nvSpPr>
        <p:spPr>
          <a:xfrm>
            <a:off x="5635182" y="350846"/>
            <a:ext cx="1862504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Adam Leonard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stomShape 52">
            <a:extLst>
              <a:ext uri="{FF2B5EF4-FFF2-40B4-BE49-F238E27FC236}">
                <a16:creationId xmlns:a16="http://schemas.microsoft.com/office/drawing/2014/main" id="{9B351DB8-AB81-1E14-5F3E-5F4D8BD58A22}"/>
              </a:ext>
            </a:extLst>
          </p:cNvPr>
          <p:cNvSpPr/>
          <p:nvPr/>
        </p:nvSpPr>
        <p:spPr>
          <a:xfrm>
            <a:off x="9961289" y="352401"/>
            <a:ext cx="144694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Fev</a:t>
            </a: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/2026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DFF56E7-E921-A814-3671-B0D8EF292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97" y="1432310"/>
            <a:ext cx="10275605" cy="530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7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5886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4740</TotalTime>
  <Words>657</Words>
  <Application>Microsoft Office PowerPoint</Application>
  <PresentationFormat>Widescreen</PresentationFormat>
  <Paragraphs>104</Paragraphs>
  <Slides>5</Slides>
  <Notes>3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Lato</vt:lpstr>
      <vt:lpstr>Wingdings</vt:lpstr>
      <vt:lpstr>Tema do Office</vt:lpstr>
      <vt:lpstr>think-cell Slide</vt:lpstr>
      <vt:lpstr>Planilha do Microsoft Excel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Adam Leonard Lacerda de Souza</dc:creator>
  <cp:lastModifiedBy>Adam Leonard Lacerda de Souza</cp:lastModifiedBy>
  <cp:revision>160</cp:revision>
  <dcterms:created xsi:type="dcterms:W3CDTF">2023-11-24T20:05:55Z</dcterms:created>
  <dcterms:modified xsi:type="dcterms:W3CDTF">2025-11-27T14:42:34Z</dcterms:modified>
</cp:coreProperties>
</file>